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 Bold" panose="020B0604020202020204" charset="0"/>
      <p:regular r:id="rId14"/>
    </p:embeddedFont>
    <p:embeddedFont>
      <p:font typeface="Montserrat Bold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82000" y="0"/>
            <a:ext cx="9906000" cy="10287000"/>
          </a:xfrm>
          <a:custGeom>
            <a:avLst/>
            <a:gdLst/>
            <a:ahLst/>
            <a:cxnLst/>
            <a:rect l="l" t="t" r="r" b="b"/>
            <a:pathLst>
              <a:path w="9906000" h="10287000">
                <a:moveTo>
                  <a:pt x="0" y="0"/>
                </a:moveTo>
                <a:lnTo>
                  <a:pt x="9906000" y="0"/>
                </a:lnTo>
                <a:lnTo>
                  <a:pt x="990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" b="-24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-838200" y="4970"/>
            <a:ext cx="12382500" cy="10287000"/>
            <a:chOff x="0" y="0"/>
            <a:chExt cx="16510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510000" cy="13716000"/>
            </a:xfrm>
            <a:custGeom>
              <a:avLst/>
              <a:gdLst/>
              <a:ahLst/>
              <a:cxnLst/>
              <a:rect l="l" t="t" r="r" b="b"/>
              <a:pathLst>
                <a:path w="16510000" h="13716000">
                  <a:moveTo>
                    <a:pt x="0" y="0"/>
                  </a:moveTo>
                  <a:lnTo>
                    <a:pt x="16510000" y="0"/>
                  </a:lnTo>
                  <a:lnTo>
                    <a:pt x="1651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11F">
                    <a:alpha val="100000"/>
                  </a:srgbClr>
                </a:gs>
                <a:gs pos="68000">
                  <a:srgbClr val="07111F">
                    <a:alpha val="94000"/>
                  </a:srgbClr>
                </a:gs>
                <a:gs pos="100000">
                  <a:srgbClr val="07111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51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809750"/>
            <a:ext cx="895350" cy="76200"/>
            <a:chOff x="0" y="0"/>
            <a:chExt cx="1193800" cy="10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3800" cy="101600"/>
            </a:xfrm>
            <a:custGeom>
              <a:avLst/>
              <a:gdLst/>
              <a:ahLst/>
              <a:cxnLst/>
              <a:rect l="l" t="t" r="r" b="b"/>
              <a:pathLst>
                <a:path w="1193800" h="101600">
                  <a:moveTo>
                    <a:pt x="0" y="0"/>
                  </a:moveTo>
                  <a:lnTo>
                    <a:pt x="1193800" y="0"/>
                  </a:lnTo>
                  <a:lnTo>
                    <a:pt x="1193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3D9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93800" cy="139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019175"/>
            <a:ext cx="61912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 dirty="0">
                <a:solidFill>
                  <a:srgbClr val="43D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PROJETO </a:t>
            </a:r>
            <a:r>
              <a:rPr lang="en-US" sz="1500" b="1" spc="120" dirty="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FINAL</a:t>
            </a:r>
            <a:r>
              <a:rPr lang="en-US" sz="1500" b="1" spc="120" dirty="0">
                <a:solidFill>
                  <a:srgbClr val="43D9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• BANCO DE DADOS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90750"/>
            <a:ext cx="9906000" cy="1648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 de Dados SQL</a:t>
            </a:r>
          </a:p>
          <a:p>
            <a:pPr algn="l">
              <a:lnSpc>
                <a:spcPts val="6396"/>
              </a:lnSpc>
            </a:pPr>
            <a:r>
              <a:rPr lang="en-US" sz="6150" b="1" dirty="0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para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Gestão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Comercial</a:t>
            </a:r>
            <a:endParaRPr lang="en-US" sz="6150" b="1" dirty="0">
              <a:solidFill>
                <a:srgbClr val="F5F8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4733925"/>
            <a:ext cx="752475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 dirty="0" err="1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Modelagem</a:t>
            </a:r>
            <a:r>
              <a:rPr lang="en-US" sz="2175" dirty="0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75" dirty="0" err="1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relacional</a:t>
            </a:r>
            <a:r>
              <a:rPr lang="en-US" sz="2175" dirty="0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75" dirty="0" err="1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automação</a:t>
            </a:r>
            <a:r>
              <a:rPr lang="en-US" sz="2175" dirty="0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 de estoque com triggers, </a:t>
            </a:r>
            <a:r>
              <a:rPr lang="en-US" sz="2175" dirty="0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stored</a:t>
            </a:r>
            <a:r>
              <a:rPr lang="en-US" sz="2175" dirty="0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 procedures e views.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429625"/>
            <a:ext cx="5715000" cy="324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 dirty="0">
                <a:solidFill>
                  <a:srgbClr val="F5F8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Grupo 06  / SENAI </a:t>
            </a:r>
            <a:r>
              <a:rPr lang="en-US" sz="1950" b="1" dirty="0">
                <a:solidFill>
                  <a:srgbClr val="F5F8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8000" y="2190750"/>
            <a:ext cx="10401300" cy="6667500"/>
          </a:xfrm>
          <a:custGeom>
            <a:avLst/>
            <a:gdLst/>
            <a:ahLst/>
            <a:cxnLst/>
            <a:rect l="l" t="t" r="r" b="b"/>
            <a:pathLst>
              <a:path w="10401300" h="6667500">
                <a:moveTo>
                  <a:pt x="0" y="0"/>
                </a:moveTo>
                <a:lnTo>
                  <a:pt x="10401300" y="0"/>
                </a:lnTo>
                <a:lnTo>
                  <a:pt x="104013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" r="-80"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</a:t>
            </a:r>
            <a:r>
              <a:rPr lang="en-US" sz="43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caos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à </a:t>
            </a:r>
            <a:r>
              <a:rPr lang="en-US" sz="4350" b="1" dirty="0" err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informação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3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útil</a:t>
            </a:r>
            <a:endParaRPr lang="en-US" sz="4350" b="1" dirty="0">
              <a:solidFill>
                <a:srgbClr val="F5F8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400175"/>
            <a:ext cx="14287500" cy="3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O desafio não era apenas armazenar dados — era conectá-los com velocidade, consistência e propósito.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257550"/>
            <a:ext cx="2857500" cy="24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ANTES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3514725"/>
            <a:ext cx="5791200" cy="943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Informações</a:t>
            </a:r>
            <a:r>
              <a:rPr lang="en-US" sz="1875" dirty="0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dispersas</a:t>
            </a:r>
            <a:endParaRPr lang="en-US" sz="1875" dirty="0">
              <a:solidFill>
                <a:srgbClr val="F5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Consultas</a:t>
            </a:r>
            <a:r>
              <a:rPr lang="en-US" sz="1875" dirty="0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lentas</a:t>
            </a:r>
            <a:endParaRPr lang="en-US" sz="1875" dirty="0">
              <a:solidFill>
                <a:srgbClr val="F5F8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531"/>
              </a:lnSpc>
            </a:pP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Vendas</a:t>
            </a:r>
            <a:r>
              <a:rPr lang="en-US" sz="1875" dirty="0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 e estoque </a:t>
            </a: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sem</a:t>
            </a:r>
            <a:r>
              <a:rPr lang="en-US" sz="1875" dirty="0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75" dirty="0" err="1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controle</a:t>
            </a:r>
            <a:endParaRPr lang="en-US" sz="1875" dirty="0">
              <a:solidFill>
                <a:srgbClr val="F5F8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6353175"/>
            <a:ext cx="2857500" cy="24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SOLUÇÃO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829425"/>
            <a:ext cx="4762500" cy="93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Banco relacional centralizado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Relatórios eficientes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Open Sans"/>
                <a:ea typeface="Open Sans"/>
                <a:cs typeface="Open Sans"/>
                <a:sym typeface="Open Sans"/>
              </a:rPr>
              <a:t>Processos automatizados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Uma stack enxuta. Uma base sólida.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287500" cy="3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Arquitetura escolhida para aprender, operar e evoluir um sistema comercial real.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857500"/>
            <a:ext cx="3714750" cy="3714750"/>
            <a:chOff x="0" y="0"/>
            <a:chExt cx="4953000" cy="4953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953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4953000" cy="101600"/>
              <a:chOff x="0" y="0"/>
              <a:chExt cx="4953000" cy="1016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4953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016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2F8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4953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06400" y="3429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2F8C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6400" y="1930400"/>
              <a:ext cx="4191000" cy="529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MySQL Community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400" y="2955925"/>
              <a:ext cx="4191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9BAD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Server 8.4.3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24450" y="2857500"/>
            <a:ext cx="3714750" cy="3714750"/>
            <a:chOff x="0" y="0"/>
            <a:chExt cx="4953000" cy="4953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953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4953000" cy="101600"/>
              <a:chOff x="0" y="0"/>
              <a:chExt cx="4953000" cy="1016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953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016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43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4953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06400" y="3429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6400" y="1920875"/>
              <a:ext cx="4191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Modelo relacional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6400" y="2955925"/>
              <a:ext cx="4191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9BAD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Entidades + chaves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20200" y="2857500"/>
            <a:ext cx="3714750" cy="3714750"/>
            <a:chOff x="0" y="0"/>
            <a:chExt cx="4953000" cy="4953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953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4953000" cy="101600"/>
              <a:chOff x="0" y="0"/>
              <a:chExt cx="4953000" cy="1016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953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016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41E3A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953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400" y="3429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1E3A2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6400" y="1920875"/>
              <a:ext cx="4191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SQL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6400" y="2955925"/>
              <a:ext cx="4191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9BAD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DDL • DML • JOINs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315950" y="2857500"/>
            <a:ext cx="3714750" cy="3714750"/>
            <a:chOff x="0" y="0"/>
            <a:chExt cx="4953000" cy="4953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4953000" cy="4953000"/>
              <a:chOff x="0" y="0"/>
              <a:chExt cx="4953000" cy="4953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953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4953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0"/>
              <a:ext cx="4953000" cy="101600"/>
              <a:chOff x="0" y="0"/>
              <a:chExt cx="4953000" cy="1016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49530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016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101600"/>
                    </a:lnTo>
                    <a:lnTo>
                      <a:pt x="0" y="101600"/>
                    </a:lnTo>
                    <a:close/>
                  </a:path>
                </a:pathLst>
              </a:custGeom>
              <a:solidFill>
                <a:srgbClr val="FFB4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4953000" cy="139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406400" y="342900"/>
              <a:ext cx="1143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FFB45C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6400" y="1920875"/>
              <a:ext cx="4191000" cy="55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Automação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06400" y="2955925"/>
              <a:ext cx="4191000" cy="37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>
                  <a:solidFill>
                    <a:srgbClr val="A9BAD1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Triggers • Procedures • Views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57500" y="7820025"/>
            <a:ext cx="12573000" cy="363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Estrutura para dados confiáveis + operações repetíveis + consultas simples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 dirty="0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Quatro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3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 Um </a:t>
            </a:r>
            <a:r>
              <a:rPr lang="en-US" sz="43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43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integrado</a:t>
            </a:r>
            <a:r>
              <a:rPr lang="en-US" sz="43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90625" y="2619375"/>
            <a:ext cx="3143250" cy="4000500"/>
            <a:chOff x="0" y="0"/>
            <a:chExt cx="4191000" cy="5334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4191000" cy="5334000"/>
              <a:chOff x="0" y="0"/>
              <a:chExt cx="4191000" cy="5334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191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334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191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333500" y="317500"/>
              <a:ext cx="1524000" cy="1524000"/>
              <a:chOff x="0" y="0"/>
              <a:chExt cx="1524000" cy="1524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2F8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3150317"/>
              <a:ext cx="4191000" cy="905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8"/>
                </a:lnSpc>
              </a:pPr>
              <a:r>
                <a:rPr lang="en-US" sz="2175" b="1" dirty="0">
                  <a:solidFill>
                    <a:srgbClr val="F5F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ORGANIZAR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 b="1" dirty="0">
                  <a:solidFill>
                    <a:srgbClr val="F5F8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Dados </a:t>
              </a:r>
              <a:r>
                <a:rPr lang="en-US" sz="2175" b="1" dirty="0" err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comerciais</a:t>
              </a:r>
              <a:endParaRPr lang="en-US" sz="2175" b="1" dirty="0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0" y="2619375"/>
            <a:ext cx="3143250" cy="4000500"/>
            <a:chOff x="0" y="0"/>
            <a:chExt cx="4191000" cy="5334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4191000" cy="5334000"/>
              <a:chOff x="0" y="0"/>
              <a:chExt cx="4191000" cy="533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191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334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191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333500" y="317500"/>
              <a:ext cx="1524000" cy="1524000"/>
              <a:chOff x="0" y="0"/>
              <a:chExt cx="1524000" cy="152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43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3200979"/>
              <a:ext cx="4191000" cy="905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8"/>
                </a:lnSpc>
              </a:pPr>
              <a:r>
                <a:rPr lang="en-US" sz="2175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CONSULTAR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 b="1" dirty="0" err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Relatórios</a:t>
              </a:r>
              <a:r>
                <a:rPr lang="en-US" sz="2175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 </a:t>
              </a:r>
              <a:r>
                <a:rPr lang="en-US" sz="2175" b="1" dirty="0" err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rápidos</a:t>
              </a:r>
              <a:endParaRPr lang="en-US" sz="2175" b="1" dirty="0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86875" y="2619375"/>
            <a:ext cx="3143250" cy="4000500"/>
            <a:chOff x="0" y="0"/>
            <a:chExt cx="4191000" cy="5334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191000" cy="5334000"/>
              <a:chOff x="0" y="0"/>
              <a:chExt cx="4191000" cy="5334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191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334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4191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333500" y="317500"/>
              <a:ext cx="1524000" cy="1524000"/>
              <a:chOff x="0" y="0"/>
              <a:chExt cx="1524000" cy="152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41E3A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3327813"/>
              <a:ext cx="4191000" cy="905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18"/>
                </a:lnSpc>
              </a:pPr>
              <a:r>
                <a:rPr lang="en-US" sz="2175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AUTOMATIZAR</a:t>
              </a:r>
            </a:p>
            <a:p>
              <a:pPr algn="ctr">
                <a:lnSpc>
                  <a:spcPts val="2718"/>
                </a:lnSpc>
              </a:pPr>
              <a:r>
                <a:rPr lang="en-US" sz="2175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Controle de estoque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335000" y="2619375"/>
            <a:ext cx="3143250" cy="4000500"/>
            <a:chOff x="0" y="0"/>
            <a:chExt cx="4191000" cy="5334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4191000" cy="5334000"/>
              <a:chOff x="0" y="0"/>
              <a:chExt cx="4191000" cy="5334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191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5334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191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333500" y="317500"/>
              <a:ext cx="1524000" cy="1524000"/>
              <a:chOff x="0" y="0"/>
              <a:chExt cx="1524000" cy="1524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cubicBezTo>
                      <a:pt x="1182841" y="0"/>
                      <a:pt x="1524000" y="341159"/>
                      <a:pt x="1524000" y="762000"/>
                    </a:cubicBezTo>
                    <a:cubicBezTo>
                      <a:pt x="1524000" y="1182841"/>
                      <a:pt x="1182841" y="1524000"/>
                      <a:pt x="762000" y="1524000"/>
                    </a:cubicBezTo>
                    <a:cubicBezTo>
                      <a:pt x="341159" y="1524000"/>
                      <a:pt x="0" y="1182841"/>
                      <a:pt x="0" y="762000"/>
                    </a:cubicBezTo>
                    <a:cubicBezTo>
                      <a:pt x="0" y="341159"/>
                      <a:pt x="341159" y="0"/>
                      <a:pt x="762000" y="0"/>
                    </a:cubicBezTo>
                    <a:close/>
                  </a:path>
                </a:pathLst>
              </a:custGeom>
              <a:solidFill>
                <a:srgbClr val="FFB45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524000" cy="156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3225744"/>
              <a:ext cx="4191000" cy="88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2100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PROTEGER</a:t>
              </a:r>
            </a:p>
            <a:p>
              <a:pPr algn="ctr">
                <a:lnSpc>
                  <a:spcPts val="2625"/>
                </a:lnSpc>
              </a:pPr>
              <a:r>
                <a:rPr lang="en-US" sz="2100" b="1" dirty="0" err="1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Integridade</a:t>
              </a:r>
              <a:r>
                <a:rPr lang="en-US" sz="2100" b="1" dirty="0">
                  <a:solidFill>
                    <a:srgbClr val="F5F8FF"/>
                  </a:solidFill>
                  <a:latin typeface="Arial" panose="020B0604020202020204" pitchFamily="34" charset="0"/>
                  <a:ea typeface="Montserrat Bold"/>
                  <a:cs typeface="Arial" panose="020B0604020202020204" pitchFamily="34" charset="0"/>
                  <a:sym typeface="Montserrat Bold"/>
                </a:rPr>
                <a:t> dos dados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O comércio traduzido em relações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287500" cy="3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Cada conexão responde a uma regra de negócio — e evita dados soltos.</a:t>
            </a:r>
          </a:p>
        </p:txBody>
      </p:sp>
      <p:sp>
        <p:nvSpPr>
          <p:cNvPr id="4" name="AutoShape 4"/>
          <p:cNvSpPr/>
          <p:nvPr/>
        </p:nvSpPr>
        <p:spPr>
          <a:xfrm>
            <a:off x="3714750" y="4286250"/>
            <a:ext cx="1381125" cy="0"/>
          </a:xfrm>
          <a:prstGeom prst="line">
            <a:avLst/>
          </a:prstGeom>
          <a:ln w="38100" cap="flat">
            <a:solidFill>
              <a:srgbClr val="43D9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7572375" y="4286250"/>
            <a:ext cx="1381125" cy="0"/>
          </a:xfrm>
          <a:prstGeom prst="line">
            <a:avLst/>
          </a:prstGeom>
          <a:ln w="38100" cap="flat">
            <a:solidFill>
              <a:srgbClr val="43D9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0191750" y="4857750"/>
            <a:ext cx="0" cy="1714500"/>
          </a:xfrm>
          <a:prstGeom prst="line">
            <a:avLst/>
          </a:prstGeom>
          <a:ln w="38100" cap="flat">
            <a:solidFill>
              <a:srgbClr val="41E3A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1430000" y="7143750"/>
            <a:ext cx="1381125" cy="0"/>
          </a:xfrm>
          <a:prstGeom prst="line">
            <a:avLst/>
          </a:prstGeom>
          <a:ln w="38100" cap="flat">
            <a:solidFill>
              <a:srgbClr val="41E3A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238250" y="3714750"/>
            <a:ext cx="2476500" cy="1143000"/>
            <a:chOff x="0" y="0"/>
            <a:chExt cx="3302000" cy="152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02000" cy="1524000"/>
            </a:xfrm>
            <a:custGeom>
              <a:avLst/>
              <a:gdLst/>
              <a:ahLst/>
              <a:cxnLst/>
              <a:rect l="l" t="t" r="r" b="b"/>
              <a:pathLst>
                <a:path w="3302000" h="1524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455615"/>
                  </a:lnTo>
                  <a:cubicBezTo>
                    <a:pt x="3302000" y="1473752"/>
                    <a:pt x="3294795" y="1491146"/>
                    <a:pt x="3281971" y="1503971"/>
                  </a:cubicBezTo>
                  <a:cubicBezTo>
                    <a:pt x="3269146" y="1516795"/>
                    <a:pt x="3251752" y="1524000"/>
                    <a:pt x="3233615" y="1524000"/>
                  </a:cubicBezTo>
                  <a:lnTo>
                    <a:pt x="68385" y="1524000"/>
                  </a:lnTo>
                  <a:cubicBezTo>
                    <a:pt x="50248" y="1524000"/>
                    <a:pt x="32854" y="1516795"/>
                    <a:pt x="20029" y="1503971"/>
                  </a:cubicBezTo>
                  <a:cubicBezTo>
                    <a:pt x="7205" y="1491146"/>
                    <a:pt x="0" y="1473752"/>
                    <a:pt x="0" y="1455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330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CLIENTES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95875" y="3714750"/>
            <a:ext cx="2476500" cy="1143000"/>
            <a:chOff x="0" y="0"/>
            <a:chExt cx="3302000" cy="152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2000" cy="1524000"/>
            </a:xfrm>
            <a:custGeom>
              <a:avLst/>
              <a:gdLst/>
              <a:ahLst/>
              <a:cxnLst/>
              <a:rect l="l" t="t" r="r" b="b"/>
              <a:pathLst>
                <a:path w="3302000" h="1524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455615"/>
                  </a:lnTo>
                  <a:cubicBezTo>
                    <a:pt x="3302000" y="1473752"/>
                    <a:pt x="3294795" y="1491146"/>
                    <a:pt x="3281971" y="1503971"/>
                  </a:cubicBezTo>
                  <a:cubicBezTo>
                    <a:pt x="3269146" y="1516795"/>
                    <a:pt x="3251752" y="1524000"/>
                    <a:pt x="3233615" y="1524000"/>
                  </a:cubicBezTo>
                  <a:lnTo>
                    <a:pt x="68385" y="1524000"/>
                  </a:lnTo>
                  <a:cubicBezTo>
                    <a:pt x="50248" y="1524000"/>
                    <a:pt x="32854" y="1516795"/>
                    <a:pt x="20029" y="1503971"/>
                  </a:cubicBezTo>
                  <a:cubicBezTo>
                    <a:pt x="7205" y="1491146"/>
                    <a:pt x="0" y="1473752"/>
                    <a:pt x="0" y="1455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2F8CFF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9525"/>
              <a:ext cx="330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PEDIDOS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53500" y="3714750"/>
            <a:ext cx="2476500" cy="1143000"/>
            <a:chOff x="0" y="0"/>
            <a:chExt cx="3302000" cy="1524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302000" cy="1524000"/>
            </a:xfrm>
            <a:custGeom>
              <a:avLst/>
              <a:gdLst/>
              <a:ahLst/>
              <a:cxnLst/>
              <a:rect l="l" t="t" r="r" b="b"/>
              <a:pathLst>
                <a:path w="3302000" h="1524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455615"/>
                  </a:lnTo>
                  <a:cubicBezTo>
                    <a:pt x="3302000" y="1473752"/>
                    <a:pt x="3294795" y="1491146"/>
                    <a:pt x="3281971" y="1503971"/>
                  </a:cubicBezTo>
                  <a:cubicBezTo>
                    <a:pt x="3269146" y="1516795"/>
                    <a:pt x="3251752" y="1524000"/>
                    <a:pt x="3233615" y="1524000"/>
                  </a:cubicBezTo>
                  <a:lnTo>
                    <a:pt x="68385" y="1524000"/>
                  </a:lnTo>
                  <a:cubicBezTo>
                    <a:pt x="50248" y="1524000"/>
                    <a:pt x="32854" y="1516795"/>
                    <a:pt x="20029" y="1503971"/>
                  </a:cubicBezTo>
                  <a:cubicBezTo>
                    <a:pt x="7205" y="1491146"/>
                    <a:pt x="0" y="1473752"/>
                    <a:pt x="0" y="1455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9525"/>
              <a:ext cx="330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PRODUTOS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53500" y="6572250"/>
            <a:ext cx="2476500" cy="1143000"/>
            <a:chOff x="0" y="0"/>
            <a:chExt cx="3302000" cy="1524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02000" cy="1524000"/>
            </a:xfrm>
            <a:custGeom>
              <a:avLst/>
              <a:gdLst/>
              <a:ahLst/>
              <a:cxnLst/>
              <a:rect l="l" t="t" r="r" b="b"/>
              <a:pathLst>
                <a:path w="3302000" h="1524000">
                  <a:moveTo>
                    <a:pt x="68385" y="0"/>
                  </a:moveTo>
                  <a:lnTo>
                    <a:pt x="3233615" y="0"/>
                  </a:lnTo>
                  <a:cubicBezTo>
                    <a:pt x="3251752" y="0"/>
                    <a:pt x="3269146" y="7205"/>
                    <a:pt x="3281971" y="20029"/>
                  </a:cubicBezTo>
                  <a:cubicBezTo>
                    <a:pt x="3294795" y="32854"/>
                    <a:pt x="3302000" y="50248"/>
                    <a:pt x="3302000" y="68385"/>
                  </a:cubicBezTo>
                  <a:lnTo>
                    <a:pt x="3302000" y="1455615"/>
                  </a:lnTo>
                  <a:cubicBezTo>
                    <a:pt x="3302000" y="1473752"/>
                    <a:pt x="3294795" y="1491146"/>
                    <a:pt x="3281971" y="1503971"/>
                  </a:cubicBezTo>
                  <a:cubicBezTo>
                    <a:pt x="3269146" y="1516795"/>
                    <a:pt x="3251752" y="1524000"/>
                    <a:pt x="3233615" y="1524000"/>
                  </a:cubicBezTo>
                  <a:lnTo>
                    <a:pt x="68385" y="1524000"/>
                  </a:lnTo>
                  <a:cubicBezTo>
                    <a:pt x="50248" y="1524000"/>
                    <a:pt x="32854" y="1516795"/>
                    <a:pt x="20029" y="1503971"/>
                  </a:cubicBezTo>
                  <a:cubicBezTo>
                    <a:pt x="7205" y="1491146"/>
                    <a:pt x="0" y="1473752"/>
                    <a:pt x="0" y="1455615"/>
                  </a:cubicBezTo>
                  <a:lnTo>
                    <a:pt x="0" y="68385"/>
                  </a:lnTo>
                  <a:cubicBezTo>
                    <a:pt x="0" y="50248"/>
                    <a:pt x="7205" y="32854"/>
                    <a:pt x="20029" y="20029"/>
                  </a:cubicBezTo>
                  <a:cubicBezTo>
                    <a:pt x="32854" y="7205"/>
                    <a:pt x="50248" y="0"/>
                    <a:pt x="68385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3302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COMPRAS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11125" y="6572250"/>
            <a:ext cx="2857500" cy="1143000"/>
            <a:chOff x="0" y="0"/>
            <a:chExt cx="3810000" cy="1524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00" cy="1524000"/>
            </a:xfrm>
            <a:custGeom>
              <a:avLst/>
              <a:gdLst/>
              <a:ahLst/>
              <a:cxnLst/>
              <a:rect l="l" t="t" r="r" b="b"/>
              <a:pathLst>
                <a:path w="3810000" h="1524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464733"/>
                  </a:lnTo>
                  <a:cubicBezTo>
                    <a:pt x="3810000" y="1497465"/>
                    <a:pt x="3783466" y="1524000"/>
                    <a:pt x="3750733" y="1524000"/>
                  </a:cubicBezTo>
                  <a:lnTo>
                    <a:pt x="59267" y="1524000"/>
                  </a:lnTo>
                  <a:cubicBezTo>
                    <a:pt x="26535" y="1524000"/>
                    <a:pt x="0" y="1497465"/>
                    <a:pt x="0" y="1464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3810000" cy="1514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FORNECEDORES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981450" y="3829050"/>
            <a:ext cx="857250" cy="22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fazem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62875" y="3829050"/>
            <a:ext cx="1047750" cy="22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contêm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72750" y="5448300"/>
            <a:ext cx="1524000" cy="22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reabastecem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20500" y="6686550"/>
            <a:ext cx="1000125" cy="222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vêm 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ER: integridade por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287500" cy="358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Open Sans"/>
                <a:ea typeface="Open Sans"/>
                <a:cs typeface="Open Sans"/>
                <a:sym typeface="Open Sans"/>
              </a:rPr>
              <a:t>PK identifica. FK conecta. A tabela associativa resolve o relacionamento N:N.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47750" y="2828925"/>
            <a:ext cx="3143250" cy="2600325"/>
            <a:chOff x="0" y="-38100"/>
            <a:chExt cx="4191000" cy="34671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-38100"/>
              <a:ext cx="4191000" cy="3467100"/>
              <a:chOff x="0" y="-38100"/>
              <a:chExt cx="4191000" cy="34671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19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429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1233A"/>
              </a:solidFill>
              <a:ln w="19050" cap="sq">
                <a:solidFill>
                  <a:srgbClr val="2F8CFF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419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81000" y="396875"/>
              <a:ext cx="3429000" cy="173423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725" dirty="0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CLIENTE</a:t>
              </a:r>
            </a:p>
            <a:p>
              <a:pPr algn="l">
                <a:lnSpc>
                  <a:spcPts val="2587"/>
                </a:lnSpc>
              </a:pPr>
              <a:r>
                <a:rPr lang="en-US" sz="1725" dirty="0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PK </a:t>
              </a:r>
              <a:r>
                <a:rPr lang="en-US" sz="1725" dirty="0" err="1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id_cliente</a:t>
              </a:r>
              <a:endParaRPr lang="en-US" sz="1725" dirty="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endParaRPr>
            </a:p>
            <a:p>
              <a:pPr algn="l">
                <a:lnSpc>
                  <a:spcPts val="2587"/>
                </a:lnSpc>
              </a:pPr>
              <a:r>
                <a:rPr lang="en-US" sz="1725" dirty="0" err="1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nome</a:t>
              </a:r>
              <a:endParaRPr lang="en-US" sz="1725" dirty="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endParaRPr>
            </a:p>
            <a:p>
              <a:pPr algn="l">
                <a:lnSpc>
                  <a:spcPts val="2587"/>
                </a:lnSpc>
              </a:pPr>
              <a:r>
                <a:rPr lang="en-US" sz="1725" dirty="0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email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62625" y="2857500"/>
            <a:ext cx="3143250" cy="2571750"/>
            <a:chOff x="0" y="0"/>
            <a:chExt cx="4191000" cy="342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191000" cy="3429000"/>
              <a:chOff x="0" y="0"/>
              <a:chExt cx="4191000" cy="3429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19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429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1233A"/>
              </a:solidFill>
              <a:ln w="19050" cap="sq">
                <a:solidFill>
                  <a:srgbClr val="2F8CFF"/>
                </a:solidFill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19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81000" y="396875"/>
              <a:ext cx="3429000" cy="1734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PEDIDO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PK id_pedido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FK id_cliente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data • status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77500" y="2857500"/>
            <a:ext cx="3143250" cy="2571750"/>
            <a:chOff x="0" y="0"/>
            <a:chExt cx="4191000" cy="3429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191000" cy="3429000"/>
              <a:chOff x="0" y="0"/>
              <a:chExt cx="4191000" cy="3429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4191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3429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172D49"/>
              </a:solidFill>
              <a:ln w="19050" cap="sq">
                <a:solidFill>
                  <a:srgbClr val="43D9FF"/>
                </a:solidFill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4191000" cy="3467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81000" y="396875"/>
              <a:ext cx="3429000" cy="1734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ITEM_PEDIDO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PK/FK id_pedido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PK/FK id_produto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quantidade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77500" y="6667500"/>
            <a:ext cx="3143250" cy="2190750"/>
            <a:chOff x="0" y="0"/>
            <a:chExt cx="4191000" cy="2921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191000" cy="2921000"/>
              <a:chOff x="0" y="0"/>
              <a:chExt cx="4191000" cy="2921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191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2921000">
                    <a:moveTo>
                      <a:pt x="0" y="0"/>
                    </a:moveTo>
                    <a:lnTo>
                      <a:pt x="4191000" y="0"/>
                    </a:lnTo>
                    <a:lnTo>
                      <a:pt x="4191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1233A"/>
              </a:solidFill>
              <a:ln w="19050" cap="sq">
                <a:solidFill>
                  <a:srgbClr val="2F8CFF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4191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81000" y="396875"/>
              <a:ext cx="3429000" cy="1734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PRODUTO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PK id_produto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nome • preço</a:t>
              </a:r>
            </a:p>
            <a:p>
              <a:pPr algn="l">
                <a:lnSpc>
                  <a:spcPts val="2587"/>
                </a:lnSpc>
              </a:pPr>
              <a:r>
                <a:rPr lang="en-US" sz="1725">
                  <a:solidFill>
                    <a:srgbClr val="F5F8FF"/>
                  </a:solidFill>
                  <a:latin typeface="Arial" panose="020B0604020202020204" pitchFamily="34" charset="0"/>
                  <a:ea typeface="IBM Plex Mono"/>
                  <a:cs typeface="Arial" panose="020B0604020202020204" pitchFamily="34" charset="0"/>
                  <a:sym typeface="IBM Plex Mono"/>
                </a:rPr>
                <a:t>estoque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4191000" y="4143375"/>
            <a:ext cx="1571625" cy="0"/>
          </a:xfrm>
          <a:prstGeom prst="line">
            <a:avLst/>
          </a:prstGeom>
          <a:ln w="28575" cap="flat">
            <a:solidFill>
              <a:srgbClr val="2F8C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>
            <a:off x="8905875" y="4143375"/>
            <a:ext cx="1571625" cy="0"/>
          </a:xfrm>
          <a:prstGeom prst="line">
            <a:avLst/>
          </a:prstGeom>
          <a:ln w="28575" cap="flat">
            <a:solidFill>
              <a:srgbClr val="43D9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12049125" y="5429250"/>
            <a:ext cx="0" cy="1238250"/>
          </a:xfrm>
          <a:prstGeom prst="line">
            <a:avLst/>
          </a:prstGeom>
          <a:ln w="28575" cap="flat">
            <a:solidFill>
              <a:srgbClr val="43D9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Tabelas pequenas. Regras claras.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287500" cy="3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 normalização reduz redundância; as chaves mantêm cada registro no lugar certo.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2667000"/>
            <a:ext cx="4953000" cy="2476500"/>
            <a:chOff x="0" y="0"/>
            <a:chExt cx="6604000" cy="33020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clientes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 id_cliente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nome • email • telefone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57950" y="2667000"/>
            <a:ext cx="4953000" cy="2476500"/>
            <a:chOff x="0" y="0"/>
            <a:chExt cx="6604000" cy="33020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produtos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 id_produto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nome • preço • estoque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87200" y="2667000"/>
            <a:ext cx="4953000" cy="2476500"/>
            <a:chOff x="0" y="0"/>
            <a:chExt cx="6604000" cy="3302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pedidos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 id_pedido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FK id_cliente • data • status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5810250"/>
            <a:ext cx="4953000" cy="2476500"/>
            <a:chOff x="0" y="0"/>
            <a:chExt cx="6604000" cy="3302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itens_pedido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PK/FK id_pedido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PK/FK id_produto • quantidade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57950" y="5810250"/>
            <a:ext cx="4953000" cy="2476500"/>
            <a:chOff x="0" y="0"/>
            <a:chExt cx="6604000" cy="33020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fornecedores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 id_fornecedor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razão_social • contato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887200" y="5810250"/>
            <a:ext cx="4953000" cy="2476500"/>
            <a:chOff x="0" y="0"/>
            <a:chExt cx="6604000" cy="33020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604000" cy="3302000"/>
              <a:chOff x="0" y="0"/>
              <a:chExt cx="6604000" cy="33020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604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3302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6604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381000" y="317500"/>
              <a:ext cx="6096000" cy="495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49"/>
                </a:lnSpc>
              </a:pPr>
              <a:r>
                <a:rPr lang="en-US" sz="2250" b="1">
                  <a:solidFill>
                    <a:srgbClr val="43D9FF"/>
                  </a:solidFill>
                  <a:latin typeface="Arial" panose="020B0604020202020204" pitchFamily="34" charset="0"/>
                  <a:ea typeface="IBM Plex Mono Bold"/>
                  <a:cs typeface="Arial" panose="020B0604020202020204" pitchFamily="34" charset="0"/>
                  <a:sym typeface="IBM Plex Mono Bold"/>
                </a:rPr>
                <a:t>compras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1000" y="1241425"/>
              <a:ext cx="6096000" cy="819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PK id_compra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Arial" panose="020B0604020202020204" pitchFamily="34" charset="0"/>
                  <a:ea typeface="Open Sans"/>
                  <a:cs typeface="Arial" panose="020B0604020202020204" pitchFamily="34" charset="0"/>
                  <a:sym typeface="Open Sans"/>
                </a:rPr>
                <a:t>FK id_fornecedor • data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Consultas que transformam dados em decisão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71750"/>
            <a:ext cx="11049000" cy="6191250"/>
            <a:chOff x="0" y="0"/>
            <a:chExt cx="14732000" cy="825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732000" cy="8255000"/>
            </a:xfrm>
            <a:custGeom>
              <a:avLst/>
              <a:gdLst/>
              <a:ahLst/>
              <a:cxnLst/>
              <a:rect l="l" t="t" r="r" b="b"/>
              <a:pathLst>
                <a:path w="14732000" h="8255000">
                  <a:moveTo>
                    <a:pt x="0" y="0"/>
                  </a:moveTo>
                  <a:lnTo>
                    <a:pt x="14732000" y="0"/>
                  </a:lnTo>
                  <a:lnTo>
                    <a:pt x="14732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0C192A"/>
            </a:solidFill>
            <a:ln w="19050" cap="sq">
              <a:solidFill>
                <a:srgbClr val="172D4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7320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76375" y="2952750"/>
            <a:ext cx="9906000" cy="2303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SELECT c.nome, SUM(i.quantidade * p.preco) AS total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FROM clientes c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JOIN pedidos pe ON pe.id_cliente = c.id_cliente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JOIN itens_pedido i ON i.id_pedido = pe.id_pedido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JOIN produtos p ON p.id_produto = i.id_produto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GROUP BY c.nome</a:t>
            </a:r>
          </a:p>
          <a:p>
            <a:pPr algn="l">
              <a:lnSpc>
                <a:spcPts val="2610"/>
              </a:lnSpc>
            </a:pPr>
            <a:r>
              <a:rPr lang="en-US" sz="1800">
                <a:solidFill>
                  <a:srgbClr val="F5F8FF"/>
                </a:solidFill>
                <a:latin typeface="Arial" panose="020B0604020202020204" pitchFamily="34" charset="0"/>
                <a:ea typeface="IBM Plex Mono"/>
                <a:cs typeface="Arial" panose="020B0604020202020204" pitchFamily="34" charset="0"/>
                <a:sym typeface="IBM Plex Mono"/>
              </a:rPr>
              <a:t>ORDER BY total DESC;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0" y="3171825"/>
            <a:ext cx="3048000" cy="562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1">
                <a:solidFill>
                  <a:srgbClr val="43D9FF"/>
                </a:solidFill>
                <a:latin typeface="Arial" panose="020B0604020202020204" pitchFamily="34" charset="0"/>
                <a:ea typeface="IBM Plex Mono Bold"/>
                <a:cs typeface="Arial" panose="020B0604020202020204" pitchFamily="34" charset="0"/>
                <a:sym typeface="IBM Plex Mono Bold"/>
              </a:rPr>
              <a:t>JOIN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58750" y="3971925"/>
            <a:ext cx="3714750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Conecta clientes, pedidos, itens e produtos.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58750" y="5686425"/>
            <a:ext cx="3048000" cy="24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RESULTADO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8750" y="6162675"/>
            <a:ext cx="3714750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Vendas consolidadas por cliente, prontas para relatório.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Estoque atualizado no momento certo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00175"/>
            <a:ext cx="14287500" cy="34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A regra acontece dentro do banco — sem depender de uma ação manual.</a:t>
            </a:r>
          </a:p>
        </p:txBody>
      </p:sp>
      <p:sp>
        <p:nvSpPr>
          <p:cNvPr id="4" name="AutoShape 4"/>
          <p:cNvSpPr/>
          <p:nvPr/>
        </p:nvSpPr>
        <p:spPr>
          <a:xfrm>
            <a:off x="3810000" y="4905375"/>
            <a:ext cx="2000250" cy="0"/>
          </a:xfrm>
          <a:prstGeom prst="line">
            <a:avLst/>
          </a:prstGeom>
          <a:ln w="47625" cap="flat">
            <a:solidFill>
              <a:srgbClr val="43D9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" name="AutoShape 5"/>
          <p:cNvSpPr/>
          <p:nvPr/>
        </p:nvSpPr>
        <p:spPr>
          <a:xfrm>
            <a:off x="8858250" y="4905375"/>
            <a:ext cx="2000250" cy="0"/>
          </a:xfrm>
          <a:prstGeom prst="line">
            <a:avLst/>
          </a:prstGeom>
          <a:ln w="47625" cap="flat">
            <a:solidFill>
              <a:srgbClr val="43D9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" name="Group 6"/>
          <p:cNvGrpSpPr/>
          <p:nvPr/>
        </p:nvGrpSpPr>
        <p:grpSpPr>
          <a:xfrm>
            <a:off x="952500" y="4286250"/>
            <a:ext cx="2857500" cy="1238250"/>
            <a:chOff x="0" y="0"/>
            <a:chExt cx="3810000" cy="165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0000" cy="1651000"/>
            </a:xfrm>
            <a:custGeom>
              <a:avLst/>
              <a:gdLst/>
              <a:ahLst/>
              <a:cxnLst/>
              <a:rect l="l" t="t" r="r" b="b"/>
              <a:pathLst>
                <a:path w="3810000" h="1651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591733"/>
                  </a:lnTo>
                  <a:cubicBezTo>
                    <a:pt x="3810000" y="1624465"/>
                    <a:pt x="3783466" y="1651000"/>
                    <a:pt x="3750733" y="1651000"/>
                  </a:cubicBezTo>
                  <a:lnTo>
                    <a:pt x="59267" y="1651000"/>
                  </a:lnTo>
                  <a:cubicBezTo>
                    <a:pt x="26535" y="1651000"/>
                    <a:pt x="0" y="1624465"/>
                    <a:pt x="0" y="1591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3810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VENDA REGISTRADA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10250" y="4286250"/>
            <a:ext cx="3048000" cy="1238250"/>
            <a:chOff x="0" y="0"/>
            <a:chExt cx="4064000" cy="1651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64000" cy="1651000"/>
            </a:xfrm>
            <a:custGeom>
              <a:avLst/>
              <a:gdLst/>
              <a:ahLst/>
              <a:cxnLst/>
              <a:rect l="l" t="t" r="r" b="b"/>
              <a:pathLst>
                <a:path w="4064000" h="1651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595438"/>
                  </a:lnTo>
                  <a:cubicBezTo>
                    <a:pt x="4064000" y="1626124"/>
                    <a:pt x="4039124" y="1651000"/>
                    <a:pt x="4008438" y="1651000"/>
                  </a:cubicBezTo>
                  <a:lnTo>
                    <a:pt x="55562" y="1651000"/>
                  </a:lnTo>
                  <a:cubicBezTo>
                    <a:pt x="24876" y="1651000"/>
                    <a:pt x="0" y="1626124"/>
                    <a:pt x="0" y="15954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2F8CFF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4064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TRIGGER AFTER INSERT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858500" y="4286250"/>
            <a:ext cx="3238500" cy="1238250"/>
            <a:chOff x="0" y="0"/>
            <a:chExt cx="4318000" cy="1651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18000" cy="1651000"/>
            </a:xfrm>
            <a:custGeom>
              <a:avLst/>
              <a:gdLst/>
              <a:ahLst/>
              <a:cxnLst/>
              <a:rect l="l" t="t" r="r" b="b"/>
              <a:pathLst>
                <a:path w="4318000" h="1651000">
                  <a:moveTo>
                    <a:pt x="52294" y="0"/>
                  </a:moveTo>
                  <a:lnTo>
                    <a:pt x="4265706" y="0"/>
                  </a:lnTo>
                  <a:cubicBezTo>
                    <a:pt x="4294587" y="0"/>
                    <a:pt x="4318000" y="23413"/>
                    <a:pt x="4318000" y="52294"/>
                  </a:cubicBezTo>
                  <a:lnTo>
                    <a:pt x="4318000" y="1598706"/>
                  </a:lnTo>
                  <a:cubicBezTo>
                    <a:pt x="4318000" y="1627587"/>
                    <a:pt x="4294587" y="1651000"/>
                    <a:pt x="4265706" y="1651000"/>
                  </a:cubicBezTo>
                  <a:lnTo>
                    <a:pt x="52294" y="1651000"/>
                  </a:lnTo>
                  <a:cubicBezTo>
                    <a:pt x="23413" y="1651000"/>
                    <a:pt x="0" y="1627587"/>
                    <a:pt x="0" y="1598706"/>
                  </a:cubicBezTo>
                  <a:lnTo>
                    <a:pt x="0" y="52294"/>
                  </a:lnTo>
                  <a:cubicBezTo>
                    <a:pt x="0" y="23413"/>
                    <a:pt x="23413" y="0"/>
                    <a:pt x="52294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318000" cy="1641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ESTOQUE − QUANTIDADE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86000" y="7200900"/>
            <a:ext cx="137160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1">
                <a:solidFill>
                  <a:srgbClr val="41E3A2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Na compra, o fluxo espelha a lógica: entrada registrada → trigger → estoque + quantidade.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Rotinas encapsuladas. Relatórios prontos.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476500"/>
            <a:ext cx="7429500" cy="4095750"/>
            <a:chOff x="0" y="0"/>
            <a:chExt cx="9906000" cy="5461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906000" cy="5461000"/>
              <a:chOff x="0" y="0"/>
              <a:chExt cx="9906000" cy="5461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906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5461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9906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87400" y="587375"/>
              <a:ext cx="8255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43D9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STORED PROCEDURES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7400" y="1749425"/>
              <a:ext cx="82550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Registrar pedido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Validar itens e cliente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Executar operações em sequência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10750" y="2476500"/>
            <a:ext cx="7429500" cy="4095750"/>
            <a:chOff x="0" y="0"/>
            <a:chExt cx="9906000" cy="5461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9906000" cy="5461000"/>
              <a:chOff x="0" y="0"/>
              <a:chExt cx="9906000" cy="5461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906000" cy="5461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5461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11233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906000" cy="549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35000" y="587375"/>
              <a:ext cx="82550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41E3A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VIEWS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0" y="1749425"/>
              <a:ext cx="8255000" cy="1238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Resumo de vendas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Posição atual do estoque</a:t>
              </a:r>
            </a:p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5F8FF"/>
                  </a:solidFill>
                  <a:latin typeface="Open Sans"/>
                  <a:ea typeface="Open Sans"/>
                  <a:cs typeface="Open Sans"/>
                  <a:sym typeface="Open Sans"/>
                </a:rPr>
                <a:t>Consultas frequentes simplificadas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81250" y="7762875"/>
            <a:ext cx="1352550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4"/>
              </a:lnSpc>
            </a:pPr>
            <a:r>
              <a:rPr lang="en-US" sz="2325" b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Menos repetição no código • Mais consistência na operação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04850"/>
            <a:ext cx="14287500" cy="59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4350" b="1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Um fluxo comercial, quatro etapas conectadas</a:t>
            </a:r>
          </a:p>
        </p:txBody>
      </p:sp>
      <p:sp>
        <p:nvSpPr>
          <p:cNvPr id="3" name="AutoShape 3"/>
          <p:cNvSpPr/>
          <p:nvPr/>
        </p:nvSpPr>
        <p:spPr>
          <a:xfrm>
            <a:off x="4191000" y="4762500"/>
            <a:ext cx="1000125" cy="0"/>
          </a:xfrm>
          <a:prstGeom prst="line">
            <a:avLst/>
          </a:prstGeom>
          <a:ln w="47625" cap="flat">
            <a:solidFill>
              <a:srgbClr val="F5F8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" name="AutoShape 4"/>
          <p:cNvSpPr/>
          <p:nvPr/>
        </p:nvSpPr>
        <p:spPr>
          <a:xfrm>
            <a:off x="8524875" y="4762500"/>
            <a:ext cx="1000125" cy="0"/>
          </a:xfrm>
          <a:prstGeom prst="line">
            <a:avLst/>
          </a:prstGeom>
          <a:ln w="47625" cap="flat">
            <a:solidFill>
              <a:srgbClr val="F5F8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" name="AutoShape 5"/>
          <p:cNvSpPr/>
          <p:nvPr/>
        </p:nvSpPr>
        <p:spPr>
          <a:xfrm>
            <a:off x="12858750" y="4762500"/>
            <a:ext cx="1000125" cy="0"/>
          </a:xfrm>
          <a:prstGeom prst="line">
            <a:avLst/>
          </a:prstGeom>
          <a:ln w="47625" cap="flat">
            <a:solidFill>
              <a:srgbClr val="F5F8FF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" name="Group 6"/>
          <p:cNvGrpSpPr/>
          <p:nvPr/>
        </p:nvGrpSpPr>
        <p:grpSpPr>
          <a:xfrm>
            <a:off x="857250" y="3905250"/>
            <a:ext cx="3333750" cy="1714500"/>
            <a:chOff x="0" y="0"/>
            <a:chExt cx="4445000" cy="228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235200"/>
                  </a:lnTo>
                  <a:cubicBezTo>
                    <a:pt x="4445000" y="2263256"/>
                    <a:pt x="4422256" y="2286000"/>
                    <a:pt x="4394200" y="2286000"/>
                  </a:cubicBezTo>
                  <a:lnTo>
                    <a:pt x="50800" y="2286000"/>
                  </a:lnTo>
                  <a:cubicBezTo>
                    <a:pt x="22744" y="2286000"/>
                    <a:pt x="0" y="2263256"/>
                    <a:pt x="0" y="2235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72D49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4445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1  CADASTRO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Cliente validado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91125" y="3905250"/>
            <a:ext cx="3333750" cy="1714500"/>
            <a:chOff x="0" y="0"/>
            <a:chExt cx="4445000" cy="2286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235200"/>
                  </a:lnTo>
                  <a:cubicBezTo>
                    <a:pt x="4445000" y="2263256"/>
                    <a:pt x="4422256" y="2286000"/>
                    <a:pt x="4394200" y="2286000"/>
                  </a:cubicBezTo>
                  <a:lnTo>
                    <a:pt x="50800" y="2286000"/>
                  </a:lnTo>
                  <a:cubicBezTo>
                    <a:pt x="22744" y="2286000"/>
                    <a:pt x="0" y="2263256"/>
                    <a:pt x="0" y="2235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43D9FF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4445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 dirty="0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2  PEDIDO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 dirty="0" err="1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Itens</a:t>
              </a:r>
              <a:r>
                <a:rPr lang="en-US" sz="1650" b="1" dirty="0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 </a:t>
              </a:r>
              <a:r>
                <a:rPr lang="en-US" sz="1650" b="1" dirty="0" err="1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registrados</a:t>
              </a:r>
              <a:endParaRPr lang="en-US" sz="1650" b="1" dirty="0">
                <a:solidFill>
                  <a:srgbClr val="FF0000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0" y="3905250"/>
            <a:ext cx="3333750" cy="1714500"/>
            <a:chOff x="0" y="0"/>
            <a:chExt cx="4445000" cy="2286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235200"/>
                  </a:lnTo>
                  <a:cubicBezTo>
                    <a:pt x="4445000" y="2263256"/>
                    <a:pt x="4422256" y="2286000"/>
                    <a:pt x="4394200" y="2286000"/>
                  </a:cubicBezTo>
                  <a:lnTo>
                    <a:pt x="50800" y="2286000"/>
                  </a:lnTo>
                  <a:cubicBezTo>
                    <a:pt x="22744" y="2286000"/>
                    <a:pt x="0" y="2263256"/>
                    <a:pt x="0" y="2235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41E3A2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4445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 dirty="0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3  ESTOQUE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 dirty="0" err="1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Atualização</a:t>
              </a:r>
              <a:r>
                <a:rPr lang="en-US" sz="1650" b="1" dirty="0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 </a:t>
              </a:r>
              <a:r>
                <a:rPr lang="en-US" sz="1650" b="1" dirty="0" err="1">
                  <a:solidFill>
                    <a:srgbClr val="FF0000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automática</a:t>
              </a:r>
              <a:endParaRPr lang="en-US" sz="1650" b="1" dirty="0">
                <a:solidFill>
                  <a:srgbClr val="FF0000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58875" y="3905250"/>
            <a:ext cx="3333750" cy="1714500"/>
            <a:chOff x="0" y="0"/>
            <a:chExt cx="4445000" cy="228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445000" cy="2286000"/>
            </a:xfrm>
            <a:custGeom>
              <a:avLst/>
              <a:gdLst/>
              <a:ahLst/>
              <a:cxnLst/>
              <a:rect l="l" t="t" r="r" b="b"/>
              <a:pathLst>
                <a:path w="4445000" h="2286000">
                  <a:moveTo>
                    <a:pt x="50800" y="0"/>
                  </a:moveTo>
                  <a:lnTo>
                    <a:pt x="4394200" y="0"/>
                  </a:lnTo>
                  <a:cubicBezTo>
                    <a:pt x="4422256" y="0"/>
                    <a:pt x="4445000" y="22744"/>
                    <a:pt x="4445000" y="50800"/>
                  </a:cubicBezTo>
                  <a:lnTo>
                    <a:pt x="4445000" y="2235200"/>
                  </a:lnTo>
                  <a:cubicBezTo>
                    <a:pt x="4445000" y="2263256"/>
                    <a:pt x="4422256" y="2286000"/>
                    <a:pt x="4394200" y="2286000"/>
                  </a:cubicBezTo>
                  <a:lnTo>
                    <a:pt x="50800" y="2286000"/>
                  </a:lnTo>
                  <a:cubicBezTo>
                    <a:pt x="22744" y="2286000"/>
                    <a:pt x="0" y="2263256"/>
                    <a:pt x="0" y="2235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FFB45C"/>
            </a:solidFill>
            <a:ln w="19050" cap="sq">
              <a:solidFill>
                <a:srgbClr val="2F8C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"/>
              <a:ext cx="4445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4  RELATÓRIO</a:t>
              </a:r>
            </a:p>
            <a:p>
              <a:pPr algn="ctr">
                <a:lnSpc>
                  <a:spcPts val="1815"/>
                </a:lnSpc>
              </a:pPr>
              <a:r>
                <a:rPr lang="en-US" sz="1650" b="1">
                  <a:solidFill>
                    <a:srgbClr val="F5F8FF"/>
                  </a:solidFill>
                  <a:latin typeface="Arial" panose="020B0604020202020204" pitchFamily="34" charset="0"/>
                  <a:ea typeface="Open Sans Bold"/>
                  <a:cs typeface="Arial" panose="020B0604020202020204" pitchFamily="34" charset="0"/>
                  <a:sym typeface="Open Sans Bold"/>
                </a:rPr>
                <a:t>Visão para decisão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667000" y="7200900"/>
            <a:ext cx="12954000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>
                <a:solidFill>
                  <a:srgbClr val="A9BAD1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O banco mantém o processo sincronizado do primeiro cadastro à análise final.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63250" y="0"/>
            <a:ext cx="7524750" cy="10287000"/>
          </a:xfrm>
          <a:custGeom>
            <a:avLst/>
            <a:gdLst/>
            <a:ahLst/>
            <a:cxnLst/>
            <a:rect l="l" t="t" r="r" b="b"/>
            <a:pathLst>
              <a:path w="7524750" h="10287000">
                <a:moveTo>
                  <a:pt x="0" y="0"/>
                </a:moveTo>
                <a:lnTo>
                  <a:pt x="7524750" y="0"/>
                </a:lnTo>
                <a:lnTo>
                  <a:pt x="7524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" b="-15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0" y="0"/>
            <a:ext cx="8572500" cy="10287000"/>
            <a:chOff x="0" y="0"/>
            <a:chExt cx="11430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30000" cy="13716000"/>
            </a:xfrm>
            <a:custGeom>
              <a:avLst/>
              <a:gdLst/>
              <a:ahLst/>
              <a:cxnLst/>
              <a:rect l="l" t="t" r="r" b="b"/>
              <a:pathLst>
                <a:path w="11430000" h="13716000">
                  <a:moveTo>
                    <a:pt x="0" y="0"/>
                  </a:moveTo>
                  <a:lnTo>
                    <a:pt x="11430000" y="0"/>
                  </a:lnTo>
                  <a:lnTo>
                    <a:pt x="1143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07111F">
                    <a:alpha val="100000"/>
                  </a:srgbClr>
                </a:gs>
                <a:gs pos="50000">
                  <a:srgbClr val="07111F">
                    <a:alpha val="90000"/>
                  </a:srgbClr>
                </a:gs>
                <a:gs pos="100000">
                  <a:srgbClr val="07111F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30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33500"/>
            <a:ext cx="10001250" cy="1648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96"/>
              </a:lnSpc>
            </a:pPr>
            <a:r>
              <a:rPr lang="en-US" sz="6150" b="1" dirty="0">
                <a:solidFill>
                  <a:srgbClr val="F5F8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Dados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organizados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396"/>
              </a:lnSpc>
            </a:pP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Decisões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mais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6150" b="1" dirty="0" err="1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rápidas</a:t>
            </a:r>
            <a:r>
              <a:rPr lang="en-US" sz="6150" b="1" dirty="0">
                <a:solidFill>
                  <a:srgbClr val="F5F8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448175"/>
            <a:ext cx="3810000" cy="24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CENTRALIZAÇÃO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876800"/>
            <a:ext cx="7239000" cy="29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Uma fonte confiável para clientes, vendas e estoque.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210300"/>
            <a:ext cx="3810000" cy="245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1" spc="120">
                <a:solidFill>
                  <a:srgbClr val="43D9FF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AUTOMAÇÃO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638925"/>
            <a:ext cx="7239000" cy="295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F5F8FF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Menos erros, retrabalho e intervenção manual.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524875"/>
            <a:ext cx="4762500" cy="480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43D9FF"/>
                </a:solidFill>
                <a:latin typeface="Arial" panose="020B0604020202020204" pitchFamily="34" charset="0"/>
                <a:ea typeface="Montserrat Bold"/>
                <a:cs typeface="Arial" panose="020B0604020202020204" pitchFamily="34" charset="0"/>
                <a:sym typeface="Montserrat Bold"/>
              </a:rP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587</Words>
  <Application>Microsoft Office PowerPoint</Application>
  <PresentationFormat>Personalizar</PresentationFormat>
  <Paragraphs>133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Open Sans</vt:lpstr>
      <vt:lpstr>Arial</vt:lpstr>
      <vt:lpstr>Calibri</vt:lpstr>
      <vt:lpstr>Open Sans Bold</vt:lpstr>
      <vt:lpstr>IBM Plex Mono Bold</vt:lpstr>
      <vt:lpstr>Montserrat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CMEISV-ALUNOS</dc:creator>
  <cp:lastModifiedBy>senai 26</cp:lastModifiedBy>
  <cp:revision>2</cp:revision>
  <dcterms:created xsi:type="dcterms:W3CDTF">2006-08-16T00:00:00Z</dcterms:created>
  <dcterms:modified xsi:type="dcterms:W3CDTF">2026-10-15T18:24:06Z</dcterms:modified>
  <dc:identifier>DAHXdHJ_PVM</dc:identifier>
</cp:coreProperties>
</file>